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60" r:id="rId3"/>
  </p:sldMasterIdLst>
  <p:notesMasterIdLst>
    <p:notesMasterId r:id="rId5"/>
  </p:notesMasterIdLst>
  <p:handoutMasterIdLst>
    <p:handoutMasterId r:id="rId18"/>
  </p:handoutMasterIdLst>
  <p:sldIdLst>
    <p:sldId id="258" r:id="rId4"/>
    <p:sldId id="377" r:id="rId6"/>
    <p:sldId id="391" r:id="rId7"/>
    <p:sldId id="392" r:id="rId8"/>
    <p:sldId id="393" r:id="rId9"/>
    <p:sldId id="394" r:id="rId10"/>
    <p:sldId id="395" r:id="rId11"/>
    <p:sldId id="396" r:id="rId12"/>
    <p:sldId id="398" r:id="rId13"/>
    <p:sldId id="400" r:id="rId14"/>
    <p:sldId id="397" r:id="rId15"/>
    <p:sldId id="374" r:id="rId16"/>
    <p:sldId id="33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370" autoAdjust="0"/>
    <p:restoredTop sz="95033" autoAdjust="0"/>
  </p:normalViewPr>
  <p:slideViewPr>
    <p:cSldViewPr snapToGrid="0" snapToObjects="1" showGuides="1">
      <p:cViewPr varScale="1">
        <p:scale>
          <a:sx n="56" d="100"/>
          <a:sy n="56" d="100"/>
        </p:scale>
        <p:origin x="475" y="82"/>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2" Type="http://schemas.microsoft.com/office/2018/10/relationships/authors" Targe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handoutMaster" Target="handoutMasters/handoutMaster1.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image" Target="../media/image1.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fld>
            <a:endParaRPr lang="en-US"/>
          </a:p>
        </p:txBody>
      </p:sp>
      <p:pic>
        <p:nvPicPr>
          <p:cNvPr id="7" name="Picture 6"/>
          <p:cNvPicPr>
            <a:picLocks noChangeAspect="1"/>
          </p:cNvPicPr>
          <p:nvPr/>
        </p:nvPicPr>
        <p:blipFill>
          <a:blip r:embed="rId1"/>
          <a:stretch>
            <a:fillRect/>
          </a:stretch>
        </p:blipFill>
        <p:spPr>
          <a:xfrm>
            <a:off x="0" y="0"/>
            <a:ext cx="1116374" cy="458788"/>
          </a:xfrm>
          <a:prstGeom prst="rect">
            <a:avLst/>
          </a:prstGeom>
        </p:spPr>
      </p:pic>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E0DA504A-D052-4F2D-906E-4CCCD67E5352}"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3C447009-55DF-4EA5-900B-29AFB7C8438A}"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FFE8B550-430E-4E00-8584-398912EDCDA8}"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BF3515C1-FC0C-48DC-AA13-5A7440F04A46}"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06C4A9D0-F765-45B1-928F-556B91D2C522}" type="datetime1">
              <a:rPr lang="en-IN" smtClean="0"/>
            </a:fld>
            <a:endParaRPr lang="en-US"/>
          </a:p>
        </p:txBody>
      </p:sp>
      <p:sp>
        <p:nvSpPr>
          <p:cNvPr id="8" name="Footer Placeholder 7"/>
          <p:cNvSpPr>
            <a:spLocks noGrp="1"/>
          </p:cNvSpPr>
          <p:nvPr>
            <p:ph type="ftr" sz="quarter" idx="11"/>
          </p:nvPr>
        </p:nvSpPr>
        <p:spPr/>
        <p:txBody>
          <a:bodyPr/>
          <a:lstStyle/>
          <a:p>
            <a:r>
              <a:rPr lang="en-US"/>
              <a:t>0th REVIEW           </a:t>
            </a:r>
            <a:endParaRPr lang="en-US"/>
          </a:p>
        </p:txBody>
      </p:sp>
      <p:sp>
        <p:nvSpPr>
          <p:cNvPr id="9" name="Slide Number Placeholder 8"/>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2420E6F3-7E24-4BDE-BB37-BD18A6966701}" type="datetime1">
              <a:rPr lang="en-IN" smtClean="0"/>
            </a:fld>
            <a:endParaRPr lang="en-US"/>
          </a:p>
        </p:txBody>
      </p:sp>
      <p:sp>
        <p:nvSpPr>
          <p:cNvPr id="4" name="Footer Placeholder 3"/>
          <p:cNvSpPr>
            <a:spLocks noGrp="1"/>
          </p:cNvSpPr>
          <p:nvPr>
            <p:ph type="ftr" sz="quarter" idx="11"/>
          </p:nvPr>
        </p:nvSpPr>
        <p:spPr/>
        <p:txBody>
          <a:bodyPr/>
          <a:lstStyle/>
          <a:p>
            <a:r>
              <a:rPr lang="en-US"/>
              <a:t>0th REVIEW           </a:t>
            </a:r>
            <a:endParaRPr lang="en-US"/>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113449-4DF0-4F1F-A3E4-097B1714C7C4}" type="datetime1">
              <a:rPr lang="en-IN" smtClean="0"/>
            </a:fld>
            <a:endParaRPr lang="en-US"/>
          </a:p>
        </p:txBody>
      </p:sp>
      <p:sp>
        <p:nvSpPr>
          <p:cNvPr id="3" name="Footer Placeholder 2"/>
          <p:cNvSpPr>
            <a:spLocks noGrp="1"/>
          </p:cNvSpPr>
          <p:nvPr>
            <p:ph type="ftr" sz="quarter" idx="11"/>
          </p:nvPr>
        </p:nvSpPr>
        <p:spPr/>
        <p:txBody>
          <a:bodyPr/>
          <a:lstStyle/>
          <a:p>
            <a:r>
              <a:rPr lang="en-US"/>
              <a:t>0th REVIEW           </a:t>
            </a:r>
            <a:endParaRPr lang="en-US"/>
          </a:p>
        </p:txBody>
      </p:sp>
      <p:sp>
        <p:nvSpPr>
          <p:cNvPr id="4" name="Slide Number Placeholder 3"/>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7CF4166F-CD67-4CEB-8DD7-1E38016562AC}"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endParaRPr lang="en-GB"/>
          </a:p>
        </p:txBody>
      </p:sp>
      <p:sp>
        <p:nvSpPr>
          <p:cNvPr id="5" name="Date Placeholder 4"/>
          <p:cNvSpPr>
            <a:spLocks noGrp="1"/>
          </p:cNvSpPr>
          <p:nvPr>
            <p:ph type="dt" sz="half" idx="10"/>
          </p:nvPr>
        </p:nvSpPr>
        <p:spPr/>
        <p:txBody>
          <a:bodyPr/>
          <a:lstStyle/>
          <a:p>
            <a:fld id="{9178F83E-6F8A-4D66-8D97-D167DE305BE2}"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68FA3A21-9775-4B2C-9B39-32116406212C}"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D43ABDC8-9AAF-4B62-9540-4EA826AA678B}"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F3821C3-0F1A-498D-9F2E-D10FACA35B86}"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10"/>
          </p:nvPr>
        </p:nvSpPr>
        <p:spPr/>
        <p:txBody>
          <a:bodyPr/>
          <a:lstStyle/>
          <a:p>
            <a:fld id="{B119A7DA-FCDD-43FA-8A0C-6A5B2B391695}"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endParaRPr lang="en-GB"/>
          </a:p>
        </p:txBody>
      </p:sp>
      <p:sp>
        <p:nvSpPr>
          <p:cNvPr id="4" name="Date Placeholder 3"/>
          <p:cNvSpPr>
            <a:spLocks noGrp="1"/>
          </p:cNvSpPr>
          <p:nvPr>
            <p:ph type="dt" sz="half" idx="10"/>
          </p:nvPr>
        </p:nvSpPr>
        <p:spPr/>
        <p:txBody>
          <a:bodyPr/>
          <a:lstStyle/>
          <a:p>
            <a:fld id="{C138D4BE-274D-4073-90F9-6DE45B427D7A}" type="datetime1">
              <a:rPr lang="en-IN" smtClean="0"/>
            </a:fld>
            <a:endParaRPr lang="en-US"/>
          </a:p>
        </p:txBody>
      </p:sp>
      <p:sp>
        <p:nvSpPr>
          <p:cNvPr id="5" name="Footer Placeholder 4"/>
          <p:cNvSpPr>
            <a:spLocks noGrp="1"/>
          </p:cNvSpPr>
          <p:nvPr>
            <p:ph type="ftr" sz="quarter" idx="11"/>
          </p:nvPr>
        </p:nvSpPr>
        <p:spPr/>
        <p:txBody>
          <a:bodyPr/>
          <a:lstStyle/>
          <a:p>
            <a:r>
              <a:rPr lang="en-US"/>
              <a:t>0th REVIEW           </a:t>
            </a:r>
            <a:endParaRPr lang="en-US"/>
          </a:p>
        </p:txBody>
      </p:sp>
      <p:sp>
        <p:nvSpPr>
          <p:cNvPr id="6" name="Slide Number Placeholder 5"/>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Date Placeholder 4"/>
          <p:cNvSpPr>
            <a:spLocks noGrp="1"/>
          </p:cNvSpPr>
          <p:nvPr>
            <p:ph type="dt" sz="half" idx="10"/>
          </p:nvPr>
        </p:nvSpPr>
        <p:spPr/>
        <p:txBody>
          <a:bodyPr/>
          <a:lstStyle/>
          <a:p>
            <a:fld id="{C4DD2526-BF89-47C7-96E6-5B804E43EF11}" type="datetime1">
              <a:rPr lang="en-IN" smtClean="0"/>
            </a:fld>
            <a:endParaRPr lang="en-US"/>
          </a:p>
        </p:txBody>
      </p:sp>
      <p:sp>
        <p:nvSpPr>
          <p:cNvPr id="6" name="Footer Placeholder 5"/>
          <p:cNvSpPr>
            <a:spLocks noGrp="1"/>
          </p:cNvSpPr>
          <p:nvPr>
            <p:ph type="ftr" sz="quarter" idx="11"/>
          </p:nvPr>
        </p:nvSpPr>
        <p:spPr/>
        <p:txBody>
          <a:bodyPr/>
          <a:lstStyle/>
          <a:p>
            <a:r>
              <a:rPr lang="en-US"/>
              <a:t>0th REVIEW           </a:t>
            </a:r>
            <a:endParaRPr lang="en-US"/>
          </a:p>
        </p:txBody>
      </p:sp>
      <p:sp>
        <p:nvSpPr>
          <p:cNvPr id="7" name="Slide Number Placeholder 6"/>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endParaRPr lang="en-GB"/>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7" name="Date Placeholder 6"/>
          <p:cNvSpPr>
            <a:spLocks noGrp="1"/>
          </p:cNvSpPr>
          <p:nvPr>
            <p:ph type="dt" sz="half" idx="10"/>
          </p:nvPr>
        </p:nvSpPr>
        <p:spPr/>
        <p:txBody>
          <a:bodyPr/>
          <a:lstStyle/>
          <a:p>
            <a:fld id="{84827929-B24E-4CA0-A508-395AF785C673}" type="datetime1">
              <a:rPr lang="en-IN" smtClean="0"/>
            </a:fld>
            <a:endParaRPr lang="en-US"/>
          </a:p>
        </p:txBody>
      </p:sp>
      <p:sp>
        <p:nvSpPr>
          <p:cNvPr id="8" name="Footer Placeholder 7"/>
          <p:cNvSpPr>
            <a:spLocks noGrp="1"/>
          </p:cNvSpPr>
          <p:nvPr>
            <p:ph type="ftr" sz="quarter" idx="11"/>
          </p:nvPr>
        </p:nvSpPr>
        <p:spPr/>
        <p:txBody>
          <a:bodyPr/>
          <a:lstStyle/>
          <a:p>
            <a:r>
              <a:rPr lang="en-US"/>
              <a:t>0th REVIEW           </a:t>
            </a:r>
            <a:endParaRPr lang="en-US"/>
          </a:p>
        </p:txBody>
      </p:sp>
      <p:sp>
        <p:nvSpPr>
          <p:cNvPr id="9" name="Slide Number Placeholder 8"/>
          <p:cNvSpPr>
            <a:spLocks noGrp="1"/>
          </p:cNvSpPr>
          <p:nvPr>
            <p:ph type="sldNum" sz="quarter" idx="12"/>
          </p:nvPr>
        </p:nvSpPr>
        <p:spPr/>
        <p:txBody>
          <a:bodyPr/>
          <a:lstStyle/>
          <a:p>
            <a:fld id="{D6396F81-1074-6B40-A92F-A06CCD3B417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endParaRPr lang="en-GB"/>
          </a:p>
          <a:p>
            <a:pPr lvl="1"/>
            <a:r>
              <a:rPr lang="en-GB"/>
              <a:t>Second level</a:t>
            </a:r>
            <a:endParaRPr lang="en-GB"/>
          </a:p>
          <a:p>
            <a:pPr lvl="2"/>
            <a:r>
              <a:rPr lang="en-GB"/>
              <a:t>Third level</a:t>
            </a:r>
            <a:endParaRPr lang="en-GB"/>
          </a:p>
          <a:p>
            <a:pPr lvl="3"/>
            <a:r>
              <a:rPr lang="en-GB"/>
              <a:t>Fourth level</a:t>
            </a:r>
            <a:endParaRPr lang="en-GB"/>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1417" y="300399"/>
            <a:ext cx="10392383" cy="776839"/>
          </a:xfrm>
        </p:spPr>
        <p:txBody>
          <a:bodyPr>
            <a:noAutofit/>
          </a:bodyPr>
          <a:lstStyle/>
          <a:p>
            <a:pPr algn="ctr">
              <a:lnSpc>
                <a:spcPct val="100000"/>
              </a:lnSpc>
            </a:pPr>
            <a:br>
              <a:rPr lang="en-US" sz="2400" b="1" dirty="0">
                <a:cs typeface="Arial" panose="020B0604020202020204" pitchFamily="34" charset="0"/>
              </a:rPr>
            </a:br>
            <a:r>
              <a:rPr lang="en-US" sz="2400" b="1" dirty="0">
                <a:cs typeface="Arial" panose="020B0604020202020204" pitchFamily="34" charset="0"/>
              </a:rPr>
              <a:t>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br>
              <a:rPr lang="en-US" sz="2400" dirty="0">
                <a:solidFill>
                  <a:srgbClr val="FF0000"/>
                </a:solidFill>
                <a:latin typeface="+mn-lt"/>
                <a:cs typeface="Arial" panose="020B0604020202020204" pitchFamily="34" charset="0"/>
              </a:rPr>
            </a:br>
            <a:r>
              <a:rPr lang="en-US" altLang="en-GB" sz="2400" b="1" dirty="0">
                <a:solidFill>
                  <a:srgbClr val="011893"/>
                </a:solidFill>
                <a:latin typeface="+mn-lt"/>
                <a:cs typeface="Arial" panose="020B0604020202020204" pitchFamily="34" charset="0"/>
              </a:rPr>
              <a:t>CareSync </a:t>
            </a:r>
            <a:endParaRPr lang="en-US" altLang="en-GB" sz="2400" b="1" dirty="0">
              <a:solidFill>
                <a:srgbClr val="011893"/>
              </a:solidFill>
              <a:latin typeface="+mn-lt"/>
              <a:cs typeface="Arial" panose="020B0604020202020204" pitchFamily="34" charset="0"/>
            </a:endParaRPr>
          </a:p>
        </p:txBody>
      </p:sp>
      <p:sp>
        <p:nvSpPr>
          <p:cNvPr id="6" name="Date Placeholder 5"/>
          <p:cNvSpPr>
            <a:spLocks noGrp="1"/>
          </p:cNvSpPr>
          <p:nvPr>
            <p:ph type="dt" sz="half" idx="10"/>
          </p:nvPr>
        </p:nvSpPr>
        <p:spPr/>
        <p:txBody>
          <a:bodyPr/>
          <a:lstStyle/>
          <a:p>
            <a:endParaRPr lang="en-US" dirty="0"/>
          </a:p>
        </p:txBody>
      </p:sp>
      <p:sp>
        <p:nvSpPr>
          <p:cNvPr id="9" name="Content Placeholder 3"/>
          <p:cNvSpPr txBox="1"/>
          <p:nvPr/>
        </p:nvSpPr>
        <p:spPr>
          <a:xfrm>
            <a:off x="961417" y="5032000"/>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endParaRPr lang="en-US" sz="1800" b="1" dirty="0">
              <a:solidFill>
                <a:srgbClr val="C00000"/>
              </a:solidFill>
            </a:endParaRP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52500" y="3143780"/>
            <a:ext cx="10515600" cy="1806292"/>
          </a:xfrm>
          <a:prstGeom prst="rect">
            <a:avLst/>
          </a:prstGeom>
        </p:spPr>
        <p:txBody>
          <a:bodyPr vert="horz" lIns="91440" tIns="45720" rIns="91440" bIns="45720" rtlCol="0">
            <a:normAutofit fontScale="9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205" dirty="0"/>
              <a:t>Under the Guidance </a:t>
            </a:r>
            <a:endParaRPr lang="en-US" sz="2205" dirty="0"/>
          </a:p>
          <a:p>
            <a:pPr marL="0" indent="0" algn="ctr">
              <a:buNone/>
            </a:pPr>
            <a:r>
              <a:rPr lang="en-US" sz="2205" dirty="0"/>
              <a:t>of </a:t>
            </a:r>
            <a:endParaRPr lang="en-US" sz="2205" dirty="0"/>
          </a:p>
          <a:p>
            <a:pPr marL="0" indent="0" algn="ctr">
              <a:buNone/>
            </a:pPr>
            <a:r>
              <a:rPr lang="en-US" sz="2205" dirty="0" err="1">
                <a:solidFill>
                  <a:srgbClr val="00B050"/>
                </a:solidFill>
              </a:rPr>
              <a:t>Dr.S. Spandana  &amp;  Dr.Y</a:t>
            </a:r>
            <a:r>
              <a:rPr lang="en-US" sz="2205" dirty="0">
                <a:solidFill>
                  <a:srgbClr val="00B050"/>
                </a:solidFill>
              </a:rPr>
              <a:t> </a:t>
            </a:r>
            <a:r>
              <a:rPr lang="en-US" sz="2205" dirty="0" err="1">
                <a:solidFill>
                  <a:srgbClr val="00B050"/>
                </a:solidFill>
              </a:rPr>
              <a:t>Subbarayudu</a:t>
            </a:r>
            <a:endParaRPr lang="en-US" sz="2205" dirty="0">
              <a:solidFill>
                <a:srgbClr val="00B050"/>
              </a:solidFill>
            </a:endParaRPr>
          </a:p>
          <a:p>
            <a:pPr marL="0" indent="0" algn="ctr">
              <a:buFont typeface="Arial" panose="020B0604020202020204" pitchFamily="34" charset="0"/>
              <a:buNone/>
            </a:pPr>
            <a:r>
              <a:rPr lang="en-US" sz="2205" dirty="0" err="1">
                <a:solidFill>
                  <a:srgbClr val="00B050"/>
                </a:solidFill>
              </a:rPr>
              <a:t>Assitant</a:t>
            </a:r>
            <a:r>
              <a:rPr lang="en-US" sz="2205" dirty="0">
                <a:solidFill>
                  <a:srgbClr val="00B050"/>
                </a:solidFill>
              </a:rPr>
              <a:t> Professors</a:t>
            </a:r>
            <a:endParaRPr lang="en-US" sz="2205" dirty="0">
              <a:solidFill>
                <a:srgbClr val="00B050"/>
              </a:solidFill>
            </a:endParaRPr>
          </a:p>
          <a:p>
            <a:pPr marL="0" indent="0" algn="ctr">
              <a:buFont typeface="Arial" panose="020B0604020202020204" pitchFamily="34" charset="0"/>
              <a:buNone/>
            </a:pPr>
            <a:r>
              <a:rPr lang="en-US" sz="2205" dirty="0">
                <a:solidFill>
                  <a:srgbClr val="00B050"/>
                </a:solidFill>
              </a:rPr>
              <a:t>Department of Computer Science and Engineering </a:t>
            </a:r>
            <a:endParaRPr lang="en-US" sz="2205" dirty="0">
              <a:solidFill>
                <a:srgbClr val="00B050"/>
              </a:solidFill>
            </a:endParaRPr>
          </a:p>
          <a:p>
            <a:pPr marL="0" indent="0">
              <a:buFont typeface="Arial" panose="020B0604020202020204" pitchFamily="34" charset="0"/>
              <a:buNone/>
            </a:pPr>
            <a:endParaRPr lang="en-US" sz="2205" dirty="0">
              <a:solidFill>
                <a:srgbClr val="00B050"/>
              </a:solidFill>
            </a:endParaRPr>
          </a:p>
        </p:txBody>
      </p:sp>
      <p:sp>
        <p:nvSpPr>
          <p:cNvPr id="4" name="Footer Placeholder 3"/>
          <p:cNvSpPr>
            <a:spLocks noGrp="1"/>
          </p:cNvSpPr>
          <p:nvPr>
            <p:ph type="ftr" sz="quarter" idx="11"/>
          </p:nvPr>
        </p:nvSpPr>
        <p:spPr/>
        <p:txBody>
          <a:bodyPr/>
          <a:lstStyle/>
          <a:p>
            <a:r>
              <a:rPr lang="en-US" dirty="0">
                <a:solidFill>
                  <a:schemeClr val="bg1"/>
                </a:solidFill>
              </a:rPr>
              <a:t>0th REVIEW           </a:t>
            </a:r>
            <a:endParaRPr lang="en-US" dirty="0">
              <a:solidFill>
                <a:schemeClr val="bg1"/>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fld>
            <a:endParaRPr lang="en-US"/>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p:cNvGraphicFramePr>
            <a:graphicFrameLocks noGrp="1"/>
          </p:cNvGraphicFramePr>
          <p:nvPr/>
        </p:nvGraphicFramePr>
        <p:xfrm>
          <a:off x="2032000" y="1680962"/>
          <a:ext cx="8128000" cy="1112520"/>
        </p:xfrm>
        <a:graphic>
          <a:graphicData uri="http://schemas.openxmlformats.org/drawingml/2006/table">
            <a:tbl>
              <a:tblPr firstRow="1" bandRow="1">
                <a:tableStyleId>{5940675A-B579-460E-94D1-54222C63F5DA}</a:tableStyleId>
              </a:tblPr>
              <a:tblGrid>
                <a:gridCol w="4064000"/>
                <a:gridCol w="4064000"/>
              </a:tblGrid>
              <a:tr h="370840">
                <a:tc>
                  <a:txBody>
                    <a:bodyPr/>
                    <a:lstStyle/>
                    <a:p>
                      <a:r>
                        <a:rPr lang="en-US" dirty="0"/>
                        <a:t>D.Aakash</a:t>
                      </a:r>
                      <a:endParaRPr lang="en-US" dirty="0"/>
                    </a:p>
                  </a:txBody>
                  <a:tcPr/>
                </a:tc>
                <a:tc>
                  <a:txBody>
                    <a:bodyPr/>
                    <a:lstStyle/>
                    <a:p>
                      <a:r>
                        <a:rPr lang="en-US" dirty="0"/>
                        <a:t>Roll no-2520030337</a:t>
                      </a:r>
                      <a:endParaRPr lang="en-US" dirty="0"/>
                    </a:p>
                  </a:txBody>
                  <a:tcPr/>
                </a:tc>
              </a:tr>
              <a:tr h="370840">
                <a:tc>
                  <a:txBody>
                    <a:bodyPr/>
                    <a:lstStyle/>
                    <a:p>
                      <a:r>
                        <a:rPr lang="en-US" dirty="0"/>
                        <a:t>Souradeepta Das</a:t>
                      </a:r>
                      <a:endParaRPr lang="en-US" dirty="0"/>
                    </a:p>
                  </a:txBody>
                  <a:tcPr/>
                </a:tc>
                <a:tc>
                  <a:txBody>
                    <a:bodyPr/>
                    <a:lstStyle/>
                    <a:p>
                      <a:r>
                        <a:rPr lang="en-US" dirty="0"/>
                        <a:t>Roll no-2520030347</a:t>
                      </a:r>
                      <a:endParaRPr lang="en-US" dirty="0"/>
                    </a:p>
                  </a:txBody>
                  <a:tcPr/>
                </a:tc>
              </a:tr>
              <a:tr h="370840">
                <a:tc>
                  <a:txBody>
                    <a:bodyPr/>
                    <a:lstStyle/>
                    <a:p>
                      <a:r>
                        <a:rPr lang="en-US" dirty="0"/>
                        <a:t>Mythri</a:t>
                      </a:r>
                      <a:endParaRPr lang="en-US" dirty="0"/>
                    </a:p>
                  </a:txBody>
                  <a:tcPr/>
                </a:tc>
                <a:tc>
                  <a:txBody>
                    <a:bodyPr/>
                    <a:lstStyle/>
                    <a:p>
                      <a:r>
                        <a:rPr lang="en-US" dirty="0"/>
                        <a:t>Roll no-2520030296</a:t>
                      </a: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graphicFrame>
        <p:nvGraphicFramePr>
          <p:cNvPr id="7" name="Table 10"/>
          <p:cNvGraphicFramePr>
            <a:graphicFrameLocks noGrp="1"/>
          </p:cNvGraphicFramePr>
          <p:nvPr>
            <p:ph idx="1"/>
          </p:nvPr>
        </p:nvGraphicFramePr>
        <p:xfrm>
          <a:off x="838199" y="1416193"/>
          <a:ext cx="10515600" cy="3567649"/>
        </p:xfrm>
        <a:graphic>
          <a:graphicData uri="http://schemas.openxmlformats.org/drawingml/2006/table">
            <a:tbl>
              <a:tblPr firstRow="1" bandRow="1">
                <a:tableStyleId>{5A111915-BE36-4E01-A7E5-04B1672EAD32}</a:tableStyleId>
              </a:tblPr>
              <a:tblGrid>
                <a:gridCol w="5257800"/>
                <a:gridCol w="5257800"/>
              </a:tblGrid>
              <a:tr h="418444">
                <a:tc>
                  <a:txBody>
                    <a:bodyPr/>
                    <a:lstStyle/>
                    <a:p>
                      <a:pPr algn="ctr"/>
                      <a:r>
                        <a:rPr lang="en-US" dirty="0"/>
                        <a:t>Name of Candidate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9841">
                <a:tc>
                  <a:txBody>
                    <a:bodyPr/>
                    <a:lstStyle/>
                    <a:p>
                      <a:r>
                        <a:rPr lang="en-US" dirty="0"/>
                        <a:t>D.Aakash</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GB" dirty="0"/>
                        <a:t>Database Design &amp; Modeling Lead-</a:t>
                      </a:r>
                      <a:endParaRPr lang="en-US" altLang="en-GB" dirty="0"/>
                    </a:p>
                    <a:p>
                      <a:r>
                        <a:rPr lang="en-US" altLang="en-GB" sz="1600" dirty="0"/>
                        <a:t>ER diagrams, table schemas, normalization (3NF/BCNF), constraints</a:t>
                      </a:r>
                      <a:endParaRPr lang="en-US" alt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9841">
                <a:tc>
                  <a:txBody>
                    <a:bodyPr/>
                    <a:lstStyle/>
                    <a:p>
                      <a:r>
                        <a:rPr lang="en-US" dirty="0"/>
                        <a:t>Souradeepta Das</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GB" dirty="0"/>
                        <a:t>Booking Logic &amp; Transactions Lead-</a:t>
                      </a:r>
                      <a:endParaRPr lang="en-US" altLang="en-GB" dirty="0"/>
                    </a:p>
                    <a:p>
                      <a:r>
                        <a:rPr lang="en-US" altLang="en-GB" sz="1600" dirty="0"/>
                        <a:t>Safe slot booking, concurrency control, double-booking prevention, API connections</a:t>
                      </a:r>
                      <a:endParaRPr lang="en-US" altLang="en-GB" sz="16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629841">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dirty="0"/>
                        <a:t>Mythri</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en-GB" sz="1800" dirty="0"/>
                        <a:t>Analytics &amp; Database Optimization Lead-  </a:t>
                      </a:r>
                      <a:endParaRPr lang="en-US" altLang="en-GB" sz="1800" dirty="0"/>
                    </a:p>
                    <a:p>
                      <a:r>
                        <a:rPr lang="en-US" altLang="en-GB" sz="1600" dirty="0"/>
                        <a:t>Hospital reports/queries (CTEs/Window functions), index tuning, scaling plan</a:t>
                      </a:r>
                      <a:endParaRPr lang="en-US" altLang="en-GB" sz="1600" dirty="0"/>
                    </a:p>
                    <a:p>
                      <a:endParaRPr lang="en-US" altLang="en-GB" sz="1600" b="1" dirty="0">
                        <a:solidFill>
                          <a:schemeClr val="tx1">
                            <a:alpha val="31000"/>
                          </a:schemeClr>
                        </a:solidFill>
                        <a:effectLst/>
                        <a:cs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ABSTRACT</a:t>
            </a:r>
            <a:endParaRPr lang="en-IN" sz="3200" b="1"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p:txBody>
          <a:bodyPr>
            <a:noAutofit/>
          </a:bodyPr>
          <a:lstStyle/>
          <a:p>
            <a:pPr marL="0" indent="0" algn="ctr">
              <a:buNone/>
            </a:pPr>
            <a:r>
              <a:rPr lang="en-US" altLang="en-GB" sz="1700" b="1" dirty="0"/>
              <a:t>Modern healthcare operations depend on robust, zero-loss data architectures to coordinate complex interactions between medical staff, clinical departments, and patients. This project presents CareSync, an end-to-end relational database management system engineered to manage the complete lifecycle of patient care, doctor scheduling, clinical consultations, and billing operations. </a:t>
            </a:r>
            <a:endParaRPr lang="en-US" altLang="en-GB" sz="1700" b="1" dirty="0"/>
          </a:p>
          <a:p>
            <a:pPr marL="0" indent="0" algn="ctr">
              <a:buNone/>
            </a:pPr>
            <a:r>
              <a:rPr lang="en-US" altLang="en-GB" sz="1700" b="1" dirty="0"/>
              <a:t>The underlying schema is developed using formal Entity-Relationship (ER) modeling and normalized up to Boyce-Codd Normal Form (BCNF) to eliminate data redundancy and prevent update anomalies across high-frequency tables. Core functionalities are structured through a modular, layered backend architecture that enforces clear separation between request routing, input validation, business logic, and persistent storage. To address high-concurrency challenges—particularly preventing simultaneous double-booking of doctor appointment slots and ward bed allocations—strict ACID transaction boundaries and isolation levels are applied. Advanced analytical capabilities, such as dynamic patient queue ranking, doctor workload distribution, and department revenue auditing, are implemented using Common Table Expressions (CTEs), multi-table joins, and SQL window functions. Query performance is optimized via custom B-tree and composite indexing strategies, validated through EXPLAIN execution plan analysis under high-volume mock datasets. Finally, the system outlines a distributed database scaling model utilizing primary-replica replication and horizontal sharding strategies. CareSync delivers an efficient, transaction-safe, and scalable relational data layer suitable for real-world clinical workflows.</a:t>
            </a:r>
            <a:endParaRPr lang="en-US" altLang="en-GB" sz="17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482725"/>
            <a:ext cx="12192635" cy="4845685"/>
          </a:xfrm>
        </p:spPr>
        <p:txBody>
          <a:bodyPr>
            <a:noAutofit/>
          </a:bodyPr>
          <a:lstStyle/>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CareSync is an integrated relational database management system designed to streamline the complete lifecycle of clinical and hospital operations into a single platform.</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Modern healthcare facilities require zero data loss and real-time synchronization across patient admissions, doctor rosters, diagnostic labs, and medical billing.</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The system replaces fragmented manual and basic digital records to eliminate data redundancy, record inconsistencies, and communication gaps between departments.</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Designed with a strictly normalized relational schema up to 3NF/BCNF, ensuring clean data dependencies free of insert, update, or delete anomalies.</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Built on a layered backend architecture using Node.js, Express, and MySQL/Sequelize to cleanly decouple request routing, business logic, and persistent storage.</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Implements robust ACID transaction boundaries and row-level locking to prevent critical concurrency issues, such as double-booked appointment slots and bed allocation conflicts.</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Leverages advanced SQL features—including Common Table Expressions (CTEs) and Window Functions—for dynamic OPD token generation, doctor workload tracking, and revenue auditing.</a:t>
            </a: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endParaRPr lang="en-US" altLang="en-GB" sz="1600" dirty="0">
              <a:latin typeface="Amiri" panose="00000500000000000000" charset="0"/>
              <a:cs typeface="Amiri" panose="00000500000000000000" charset="0"/>
            </a:endParaRPr>
          </a:p>
          <a:p>
            <a:pPr>
              <a:lnSpc>
                <a:spcPct val="60000"/>
              </a:lnSpc>
              <a:buFont typeface="Wingdings" panose="05000000000000000000" charset="0"/>
              <a:buChar char="q"/>
            </a:pPr>
            <a:r>
              <a:rPr lang="en-US" altLang="en-GB" sz="1600" dirty="0">
                <a:latin typeface="Amiri" panose="00000500000000000000" charset="0"/>
                <a:cs typeface="Amiri" panose="00000500000000000000" charset="0"/>
              </a:rPr>
              <a:t>Optimized for high-throughput performance using custom B-Tree indexing and query execution analysis via Explain plans across large-scale medical datasets.</a:t>
            </a:r>
            <a:endParaRPr lang="en-US" altLang="en-GB" sz="1600" dirty="0">
              <a:latin typeface="Amiri" panose="00000500000000000000" charset="0"/>
              <a:cs typeface="Amiri" panose="00000500000000000000"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825625"/>
            <a:ext cx="12192635" cy="4351655"/>
          </a:xfrm>
        </p:spPr>
        <p:txBody>
          <a:bodyPr>
            <a:normAutofit fontScale="90000"/>
          </a:bodyPr>
          <a:lstStyle/>
          <a:p>
            <a:pPr marL="0" indent="0">
              <a:lnSpc>
                <a:spcPct val="100000"/>
              </a:lnSpc>
              <a:buNone/>
            </a:pPr>
            <a:r>
              <a:rPr lang="en-US" altLang="en-GB" sz="2500" dirty="0">
                <a:latin typeface="Amiri" panose="00000500000000000000" charset="0"/>
                <a:cs typeface="Amiri" panose="00000500000000000000" charset="0"/>
              </a:rPr>
              <a:t>Existing hospital management solutions generally fall into two categories: large-scale enterprise suites like Epic Systems and Oracle Health (Cerner), or modular open-source platforms like OpenMRS. While enterprise systems offer comprehensive clinical and billing workflows, they suffer from high implementation costs, steep learning curves, proprietary data silos, and excessive resource overhead that make them impractical for small to mid-sized clinics. Conversely, basic open-source and legacy clinic software often rely on partially normalized databases and lack built-in transaction isolation, leading to concurrency anomalies such as double-booked appointment slots, inconsistent electronic medical records (EMR), and slow query execution during peak outpatient hours. CareSync bridges this gap by delivering a lightweight, cost-effective full-stack architecture that combines a strictly normalized 3NF/BCNF relational database with robust ACID transaction safety and indexing-driven query optimization.</a:t>
            </a:r>
            <a:endParaRPr lang="en-US" altLang="en-GB" sz="2500" dirty="0">
              <a:latin typeface="Amiri" panose="00000500000000000000" charset="0"/>
              <a:cs typeface="Amiri" panose="00000500000000000000"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331595"/>
            <a:ext cx="12192635" cy="4845685"/>
          </a:xfrm>
        </p:spPr>
        <p:txBody>
          <a:bodyPr>
            <a:noAutofit/>
          </a:bodyPr>
          <a:lstStyle/>
          <a:p>
            <a:pPr marL="0" indent="0">
              <a:buNone/>
            </a:pPr>
            <a:endParaRPr lang="en-US" altLang="en-GB" sz="1700" dirty="0">
              <a:latin typeface="Amiri" panose="00000500000000000000" charset="0"/>
              <a:cs typeface="Amiri" panose="00000500000000000000"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Data Redundancy &amp; Update Anomalies: Legacy and un-normalized clinic databases store duplicated patient and doctor records across departments, causing synchronization failures and data corruption whenever records are updated.</a:t>
            </a:r>
            <a:endParaRPr lang="en-US" altLang="en-GB" sz="1700" dirty="0">
              <a:latin typeface="Arial Black" panose="020B0A04020102020204" charset="0"/>
              <a:cs typeface="Arial Black" panose="020B0A04020102020204"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Concurrency Conflicts &amp; Double-Booking: During peak outpatient registration hours, concurrent appointment and bed requests trigger race conditions, resulting in duplicate slot allocations and resource overlap.</a:t>
            </a:r>
            <a:endParaRPr lang="en-US" altLang="en-GB" sz="1700" dirty="0">
              <a:latin typeface="Arial Black" panose="020B0A04020102020204" charset="0"/>
              <a:cs typeface="Arial Black" panose="020B0A04020102020204"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Fragmented Departmental Silos:Disconnected data handling between OPD counters, diagnostic labs, pharmacies, and billing units leads to delayed medical report deliveries, missed prescriptions, and manual invoicing errors.</a:t>
            </a:r>
            <a:endParaRPr lang="en-US" altLang="en-GB" sz="1700" dirty="0">
              <a:latin typeface="Arial Black" panose="020B0A04020102020204" charset="0"/>
              <a:cs typeface="Arial Black" panose="020B0A04020102020204"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Slow Query Performance on Growing Datasets: Lack of targeted indexing and query execution planning causes high-latency table scans, degrading system responsiveness as patient history and audit logs scale into tens of thousands of rows.</a:t>
            </a:r>
            <a:endParaRPr lang="en-US" altLang="en-GB" sz="1700" dirty="0">
              <a:latin typeface="Arial Black" panose="020B0A04020102020204" charset="0"/>
              <a:cs typeface="Arial Black" panose="020B0A04020102020204"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High Cost &amp; Complexity of Enterprise Suites: Existing enterprise solutions (e.g., Epic, Cerner) impose steep licensing fees, complex infrastructure, and rigid interfaces that are inaccessible and inefficient for mid-sized clinical setups.</a:t>
            </a:r>
            <a:endParaRPr lang="en-US" altLang="en-GB" sz="1700" dirty="0">
              <a:latin typeface="Arial Black" panose="020B0A04020102020204" charset="0"/>
              <a:cs typeface="Arial Black" panose="020B0A04020102020204" charset="0"/>
            </a:endParaRPr>
          </a:p>
          <a:p>
            <a:pPr>
              <a:buFont typeface="Wingdings" panose="05000000000000000000" charset="0"/>
              <a:buChar char="q"/>
            </a:pPr>
            <a:r>
              <a:rPr lang="en-US" altLang="en-GB" sz="1700" dirty="0">
                <a:latin typeface="Arial Black" panose="020B0A04020102020204" charset="0"/>
                <a:cs typeface="Arial Black" panose="020B0A04020102020204" charset="0"/>
              </a:rPr>
              <a:t>Absence of Real-Time Operational Analytics: Traditional record systems lack dynamic data aggregation, preventing hospital administrators from generating live OPD queue rankings, doctor workload metrics, and departmental revenue reports.</a:t>
            </a:r>
            <a:endParaRPr lang="en-US" altLang="en-GB" sz="1700" dirty="0">
              <a:latin typeface="Arial Black" panose="020B0A04020102020204" charset="0"/>
              <a:cs typeface="Arial Black" panose="020B0A040201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470660"/>
            <a:ext cx="12192635" cy="4706620"/>
          </a:xfrm>
        </p:spPr>
        <p:txBody>
          <a:bodyPr>
            <a:noAutofit/>
          </a:bodyPr>
          <a:lstStyle/>
          <a:p>
            <a:pPr>
              <a:buFont typeface="Wingdings" panose="05000000000000000000" charset="0"/>
              <a:buChar char="q"/>
            </a:pPr>
            <a:r>
              <a:rPr lang="en-US" altLang="en-GB" sz="1500" dirty="0">
                <a:latin typeface="Amiri" panose="00000500000000000000" charset="0"/>
                <a:cs typeface="Amiri" panose="00000500000000000000" charset="0"/>
              </a:rPr>
              <a:t>Unified Relational Architecture: CareSync establishes a centralized, 3NF/BCNF normalized database schema that eliminates redundant data storage and prevents update anomalies across all hospital departments.</a:t>
            </a:r>
            <a:endParaRPr lang="en-US" altLang="en-GB" sz="1500" dirty="0">
              <a:latin typeface="Amiri" panose="00000500000000000000" charset="0"/>
              <a:cs typeface="Amiri" panose="00000500000000000000" charset="0"/>
            </a:endParaRPr>
          </a:p>
          <a:p>
            <a:pPr>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ACID-Compliant Concurrency Control: Enforces strict transaction boundaries and row-level locking to guarantee zero race conditions and eliminate double-booking during peak appointment and bed allocation workflows.</a:t>
            </a:r>
            <a:endParaRPr lang="en-US" altLang="en-GB" sz="1500" dirty="0">
              <a:latin typeface="Amiri" panose="00000500000000000000" charset="0"/>
              <a:cs typeface="Amiri" panose="00000500000000000000" charset="0"/>
            </a:endParaRPr>
          </a:p>
          <a:p>
            <a:pPr>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Seamless Cross-Department Integration: Bridges OPD registration, doctor consultations, electronic medical records (EMR), pharmacy inventory, and billing into a synchronized, role-based pipeline with automated SMS/email alerts.</a:t>
            </a:r>
            <a:endParaRPr lang="en-US" altLang="en-GB" sz="1500" dirty="0">
              <a:latin typeface="Amiri" panose="00000500000000000000" charset="0"/>
              <a:cs typeface="Amiri" panose="00000500000000000000" charset="0"/>
            </a:endParaRPr>
          </a:p>
          <a:p>
            <a:pPr>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Optimized High-Speed Data Retrieval: Employs composite and covering B-Tree indexes backed by EXPLAIN execution plan analysis to eliminate full-table scans and deliver sub-second query responses on large-scale clinical datasets.</a:t>
            </a:r>
            <a:endParaRPr lang="en-US" altLang="en-GB" sz="1500" dirty="0">
              <a:latin typeface="Amiri" panose="00000500000000000000" charset="0"/>
              <a:cs typeface="Amiri" panose="00000500000000000000" charset="0"/>
            </a:endParaRPr>
          </a:p>
          <a:p>
            <a:pPr>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Lightweight &amp; Cost-Effective Full-Stack Delivery: Built on an accessible modern stack (React.js, Node.js, Express, MySQL/Sequelize) containerized with Docker, providing a performant yet low-overhead alternative to expensive enterprise ERPs.</a:t>
            </a:r>
            <a:endParaRPr lang="en-US" altLang="en-GB" sz="1500" dirty="0">
              <a:latin typeface="Amiri" panose="00000500000000000000" charset="0"/>
              <a:cs typeface="Amiri" panose="00000500000000000000" charset="0"/>
            </a:endParaRPr>
          </a:p>
          <a:p>
            <a:pPr>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Real-Time Operational Intelligence: Leverages advanced SQL features like Common Table Expressions (CTEs) and Window Functions to generate live OPD token queues, doctor consultation rankings, and automated department revenue reports.</a:t>
            </a:r>
            <a:endParaRPr lang="en-US" altLang="en-GB" sz="1500" dirty="0">
              <a:latin typeface="Amiri" panose="00000500000000000000" charset="0"/>
              <a:cs typeface="Amiri" panose="00000500000000000000"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444625"/>
            <a:ext cx="12192635" cy="4890770"/>
          </a:xfrm>
        </p:spPr>
        <p:txBody>
          <a:bodyPr>
            <a:noAutofit/>
          </a:bodyPr>
          <a:lstStyle/>
          <a:p>
            <a:pPr>
              <a:buFont typeface="Wingdings" panose="05000000000000000000" charset="0"/>
              <a:buChar char="q"/>
            </a:pPr>
            <a:r>
              <a:rPr lang="en-US" altLang="en-GB" sz="1500" dirty="0">
                <a:latin typeface="Amiri" panose="00000500000000000000" charset="0"/>
                <a:cs typeface="Amiri" panose="00000500000000000000" charset="0"/>
              </a:rPr>
              <a:t>Entity Modeling &amp; BCNF Decomposition: Formulate an Entity-Relationship (ER) model and execute formal relational decomposition up to 3NF and Boyce-Codd Normal Form (BCNF) to eliminate transitive/partial dependencies and ensure update anomaly-free persistence across patient, doctor, and billing relations.</a:t>
            </a:r>
            <a:endParaRPr lang="en-US" altLang="en-GB" sz="1500" dirty="0">
              <a:latin typeface="Amiri" panose="00000500000000000000" charset="0"/>
              <a:cs typeface="Amiri" panose="00000500000000000000" charset="0"/>
            </a:endParaRPr>
          </a:p>
          <a:p>
            <a:pPr>
              <a:lnSpc>
                <a:spcPct val="0"/>
              </a:lnSpc>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ACID Invariant Enforcement &amp; Concurrency Control: Construct atomic transaction boundaries (BEGIN...COMMIT/ROLLBACK) with explicit pessimistic row-level locking (SELECT ... FOR UPDATE) under Repeatable Read and Serializable isolation levels to eliminate race conditions, phantom reads, and dirty writes during simultaneous slot reservations and bed allocations.</a:t>
            </a:r>
            <a:endParaRPr lang="en-US" altLang="en-GB" sz="1500" dirty="0">
              <a:latin typeface="Amiri" panose="00000500000000000000" charset="0"/>
              <a:cs typeface="Amiri" panose="00000500000000000000" charset="0"/>
            </a:endParaRPr>
          </a:p>
          <a:p>
            <a:pPr>
              <a:lnSpc>
                <a:spcPct val="0"/>
              </a:lnSpc>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Layered Service Architecture &amp; Parameterized Data Access: Architect a multi-tier backend pipeline separating HTTP routing, input validation middleware, service domain logic, and persistent storage via Sequelize ORM/MySQL native connection pooling, enforcing parameterized queries to prevent SQL injection vulnerabilities.</a:t>
            </a:r>
            <a:endParaRPr lang="en-US" altLang="en-GB" sz="1500" dirty="0">
              <a:latin typeface="Amiri" panose="00000500000000000000" charset="0"/>
              <a:cs typeface="Amiri" panose="00000500000000000000" charset="0"/>
            </a:endParaRPr>
          </a:p>
          <a:p>
            <a:pPr>
              <a:lnSpc>
                <a:spcPct val="0"/>
              </a:lnSpc>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Complex Analytical Querying via Windowing &amp; CTEs: Author optimized relational queries leveraging Common Table Expressions (CTEs), multi-stage joins, and Window Functions (e.g., ROW_NUMBER(), DENSE_RANK(), SUM() OVER (...)) for real-time OPD triage queue generation, doctor consultation load distribution, and departmental revenue auditing.</a:t>
            </a:r>
            <a:endParaRPr lang="en-US" altLang="en-GB" sz="1500" dirty="0">
              <a:latin typeface="Amiri" panose="00000500000000000000" charset="0"/>
              <a:cs typeface="Amiri" panose="00000500000000000000" charset="0"/>
            </a:endParaRPr>
          </a:p>
          <a:p>
            <a:pPr>
              <a:lnSpc>
                <a:spcPct val="0"/>
              </a:lnSpc>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Index Design, Cost Optimization &amp; Plan Analysis: Design and evaluate clustered B-Tree, composite, and covering indexes (INCLUDE clauses) on high-frequency predicate columns, using EXPLAIN (ANALYZE, BUFFERS) execution plan metrics to eliminate sequential scans, reduce I/O cost, and achieve sub-second latency on large-scale datasets.</a:t>
            </a:r>
            <a:endParaRPr lang="en-US" altLang="en-GB" sz="1500" dirty="0">
              <a:latin typeface="Amiri" panose="00000500000000000000" charset="0"/>
              <a:cs typeface="Amiri" panose="00000500000000000000" charset="0"/>
            </a:endParaRPr>
          </a:p>
          <a:p>
            <a:pPr>
              <a:lnSpc>
                <a:spcPct val="0"/>
              </a:lnSpc>
              <a:buFont typeface="Wingdings" panose="05000000000000000000" charset="0"/>
              <a:buChar char="q"/>
            </a:pPr>
            <a:endParaRPr lang="en-US" altLang="en-GB" sz="1500" dirty="0">
              <a:latin typeface="Amiri" panose="00000500000000000000" charset="0"/>
              <a:cs typeface="Amiri" panose="00000500000000000000" charset="0"/>
            </a:endParaRPr>
          </a:p>
          <a:p>
            <a:pPr>
              <a:buFont typeface="Wingdings" panose="05000000000000000000" charset="0"/>
              <a:buChar char="q"/>
            </a:pPr>
            <a:r>
              <a:rPr lang="en-US" altLang="en-GB" sz="1500" dirty="0">
                <a:latin typeface="Amiri" panose="00000500000000000000" charset="0"/>
                <a:cs typeface="Amiri" panose="00000500000000000000" charset="0"/>
              </a:rPr>
              <a:t>Distributed Scalability &amp; High-Availability Blueprint: Formulate a distributed scaling framework detailing Primary-Replica read-scaling for read-heavy clinical record queries and a conceptual horizontal sharding strategy partitioned by hospital_branch_id and hash ranges in accordance with the CAP theorem.</a:t>
            </a:r>
            <a:endParaRPr lang="en-US" altLang="en-GB" sz="1500" dirty="0">
              <a:latin typeface="Amiri" panose="00000500000000000000" charset="0"/>
              <a:cs typeface="Amiri" panose="00000500000000000000"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318260"/>
            <a:ext cx="12192635" cy="4859020"/>
          </a:xfrm>
        </p:spPr>
        <p:txBody>
          <a:bodyPr>
            <a:noAutofit/>
          </a:bodyPr>
          <a:lstStyle/>
          <a:p>
            <a:pPr marL="0" indent="0">
              <a:buNone/>
            </a:pPr>
            <a:r>
              <a:rPr lang="en-US" altLang="en-GB" sz="1200" b="1" dirty="0">
                <a:latin typeface="Arial Black" panose="020B0A04020102020204" charset="0"/>
                <a:cs typeface="Arial Black" panose="020B0A04020102020204" charset="0"/>
              </a:rPr>
              <a:t>Module 1: Layered Backend Architecture &amp; Request Flow Pipeline (CO1)</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Implements a decoupled, multi-tier backend architecture separating HTTP route handling, request validation middleware, service business logic, data access abstraction, and persistence.</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Traces and documents the complete execution lifecycle of clinical requests—from incoming client HTTP payload down to parameterized database execution and formatted JSON response delivery.</a:t>
            </a:r>
            <a:endParaRPr lang="en-US" altLang="en-GB" sz="1000" b="1" dirty="0">
              <a:latin typeface="Arial Black" panose="020B0A04020102020204" charset="0"/>
              <a:cs typeface="Arial Black" panose="020B0A04020102020204" charset="0"/>
            </a:endParaRPr>
          </a:p>
          <a:p>
            <a:pPr marL="0" indent="0">
              <a:buNone/>
            </a:pPr>
            <a:endParaRPr lang="en-US" altLang="en-GB" sz="1000" b="1" dirty="0">
              <a:latin typeface="Arial Black" panose="020B0A04020102020204" charset="0"/>
              <a:cs typeface="Arial Black" panose="020B0A04020102020204" charset="0"/>
            </a:endParaRPr>
          </a:p>
          <a:p>
            <a:pPr marL="0" indent="0">
              <a:buNone/>
            </a:pPr>
            <a:r>
              <a:rPr lang="en-US" altLang="en-GB" sz="1200" b="1" dirty="0">
                <a:latin typeface="Arial Black" panose="020B0A04020102020204" charset="0"/>
                <a:cs typeface="Arial Black" panose="020B0A04020102020204" charset="0"/>
              </a:rPr>
              <a:t>Module 2: Relational Schema Modeling &amp; BCNF Normalization (CO2)</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Formulates the formal Entity-Relationship (ER) model across core clinical entities (Patients, Doctors, Departments, Appointments, Wards, Prescriptions, Invoices).</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Applies relational decomposition up to 3NF and Boyce-Codd Normal Form (BCNF) to eliminate partial/transitive functional dependencies and guarantee an update anomaly-free data layer.</a:t>
            </a:r>
            <a:endParaRPr lang="en-US" altLang="en-GB" sz="1000" b="1" dirty="0">
              <a:latin typeface="Arial Black" panose="020B0A04020102020204" charset="0"/>
              <a:cs typeface="Arial Black" panose="020B0A04020102020204" charset="0"/>
            </a:endParaRPr>
          </a:p>
          <a:p>
            <a:pPr marL="0" indent="0">
              <a:buNone/>
            </a:pPr>
            <a:endParaRPr lang="en-US" altLang="en-GB" sz="1000" b="1" dirty="0">
              <a:latin typeface="Arial Black" panose="020B0A04020102020204" charset="0"/>
              <a:cs typeface="Arial Black" panose="020B0A04020102020204" charset="0"/>
            </a:endParaRPr>
          </a:p>
          <a:p>
            <a:pPr marL="0" indent="0">
              <a:buNone/>
            </a:pPr>
            <a:r>
              <a:rPr lang="en-US" altLang="en-GB" sz="1200" b="1" dirty="0">
                <a:latin typeface="Arial Black" panose="020B0A04020102020204" charset="0"/>
                <a:cs typeface="Arial Black" panose="020B0A04020102020204" charset="0"/>
              </a:rPr>
              <a:t>Module 3: Advanced SQL Query Engine &amp; Clinical Analytics (CO3)</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Executes full relational DDL with explicit primary/foreign keys, CHECK constraints, and automated DML triggers for all hospital transactions.</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Implements complex data retrieval leveraging multi-table joins, subqueries, Common Table Expressions (CTEs), and Window Functions (ROW_NUMBER(), DENSE_RANK(), SUM() OVER) for dynamic OPD triage queues, doctor consultation rankings, and revenue audits.</a:t>
            </a:r>
            <a:endParaRPr lang="en-US" altLang="en-GB" sz="1000" b="1" dirty="0">
              <a:latin typeface="Arial Black" panose="020B0A04020102020204" charset="0"/>
              <a:cs typeface="Arial Black" panose="020B0A04020102020204" charset="0"/>
            </a:endParaRPr>
          </a:p>
          <a:p>
            <a:pPr marL="0" indent="0">
              <a:buNone/>
            </a:pPr>
            <a:endParaRPr lang="en-US" altLang="en-GB" sz="1000" b="1" dirty="0">
              <a:latin typeface="Arial Black" panose="020B0A04020102020204" charset="0"/>
              <a:cs typeface="Arial Black" panose="020B0A04020102020204" charset="0"/>
            </a:endParaRPr>
          </a:p>
          <a:p>
            <a:pPr marL="0" indent="0">
              <a:buNone/>
            </a:pPr>
            <a:r>
              <a:rPr lang="en-US" altLang="en-GB" sz="1200" b="1" dirty="0">
                <a:latin typeface="Arial Black" panose="020B0A04020102020204" charset="0"/>
                <a:cs typeface="Arial Black" panose="020B0A04020102020204" charset="0"/>
              </a:rPr>
              <a:t>Module 4: ACID Transactions &amp; Concurrency Control Engine (CO4)</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Constructs atomic transaction boundaries (BEGIN...COMMIT/ROLLBACK) for critical workflows including appointment scheduling and inpatient bed reservations.</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Configures transaction isolation levels (Repeatable Read, Serializable) and row-level locking (SELECT ... FOR UPDATE) to prevent concurrency anomalies (dirty reads, non-repeatable reads, phantom reads, race conditions) and preserve strict system invariants.</a:t>
            </a:r>
            <a:endParaRPr lang="en-US" altLang="en-GB" sz="1000" b="1" dirty="0">
              <a:latin typeface="Arial Black" panose="020B0A04020102020204" charset="0"/>
              <a:cs typeface="Arial Black" panose="020B0A040201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318260"/>
            <a:ext cx="12192635" cy="4859020"/>
          </a:xfrm>
        </p:spPr>
        <p:txBody>
          <a:bodyPr>
            <a:noAutofit/>
          </a:bodyPr>
          <a:lstStyle/>
          <a:p>
            <a:pPr marL="0" indent="0">
              <a:buNone/>
            </a:pPr>
            <a:r>
              <a:rPr lang="en-US" altLang="en-GB" sz="1200" b="1" dirty="0">
                <a:latin typeface="Arial Black" panose="020B0A04020102020204" charset="0"/>
                <a:cs typeface="Arial Black" panose="020B0A04020102020204" charset="0"/>
              </a:rPr>
              <a:t>Module 5: Indexing Strategy, Query Plan Analysis &amp; Performance Tuning (CO5)</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Designs and implements clustered B-Tree, composite, and covering indexes on high-frequency predicate attributes (doctor_id, appointment_date, patient_id).</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Utilizes EXPLAIN (ANALYZE, BUFFERS) execution plans to evaluate cost-based optimizer decisions, eliminate sequential full-table scans, and optimize query latency on 50k+ record datasets.</a:t>
            </a:r>
            <a:endParaRPr lang="en-US" altLang="en-GB" sz="1000" b="1" dirty="0">
              <a:latin typeface="Arial Black" panose="020B0A04020102020204" charset="0"/>
              <a:cs typeface="Arial Black" panose="020B0A04020102020204" charset="0"/>
            </a:endParaRPr>
          </a:p>
          <a:p>
            <a:pPr marL="0" indent="0">
              <a:buNone/>
            </a:pPr>
            <a:endParaRPr lang="en-US" altLang="en-GB" sz="1000" b="1" dirty="0">
              <a:latin typeface="Arial Black" panose="020B0A04020102020204" charset="0"/>
              <a:cs typeface="Arial Black" panose="020B0A04020102020204" charset="0"/>
            </a:endParaRPr>
          </a:p>
          <a:p>
            <a:pPr marL="0" indent="0">
              <a:buNone/>
            </a:pPr>
            <a:r>
              <a:rPr lang="en-US" altLang="en-GB" sz="1200" b="1" dirty="0">
                <a:latin typeface="Arial Black" panose="020B0A04020102020204" charset="0"/>
                <a:cs typeface="Arial Black" panose="020B0A04020102020204" charset="0"/>
              </a:rPr>
              <a:t>Module 6: Distributed Database Architecture &amp; Scaling Blueprint (CO6)</a:t>
            </a:r>
            <a:endParaRPr lang="en-US" altLang="en-GB" sz="12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Establishes a Primary-Replica replication model to scale high-volume read queries (patient lookups and report downloads) away from write-heavy transactional nodes.</a:t>
            </a:r>
            <a:endParaRPr lang="en-US" altLang="en-GB" sz="1000" b="1" dirty="0">
              <a:latin typeface="Arial Black" panose="020B0A04020102020204" charset="0"/>
              <a:cs typeface="Arial Black" panose="020B0A04020102020204" charset="0"/>
            </a:endParaRPr>
          </a:p>
          <a:p>
            <a:pPr marL="0" indent="0">
              <a:buNone/>
            </a:pPr>
            <a:r>
              <a:rPr lang="en-US" altLang="en-GB" sz="1000" b="1" dirty="0">
                <a:latin typeface="Arial Black" panose="020B0A04020102020204" charset="0"/>
                <a:cs typeface="Arial Black" panose="020B0A04020102020204" charset="0"/>
              </a:rPr>
              <a:t>Formulates a horizontal sharding strategy partitioned by hospital_branch_id and hash keys, analyzing consistency versus availability trade-offs under the CAP theorem when datasets exceed single-node capacity.</a:t>
            </a:r>
            <a:endParaRPr lang="en-US" altLang="en-GB" sz="1000" b="1" dirty="0">
              <a:latin typeface="Arial Black" panose="020B0A04020102020204" charset="0"/>
              <a:cs typeface="Arial Black" panose="020B0A040201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p:cNvSpPr>
            <a:spLocks noGrp="1"/>
          </p:cNvSpPr>
          <p:nvPr>
            <p:ph type="ftr" sz="quarter" idx="11"/>
          </p:nvPr>
        </p:nvSpPr>
        <p:spPr/>
        <p:txBody>
          <a:bodyPr/>
          <a:lstStyle/>
          <a:p>
            <a:r>
              <a:rPr lang="en-US" dirty="0"/>
              <a:t>         </a:t>
            </a:r>
            <a:endParaRPr lang="en-US" dirty="0"/>
          </a:p>
        </p:txBody>
      </p:sp>
      <p:sp>
        <p:nvSpPr>
          <p:cNvPr id="6" name="Slide Number Placeholder 5"/>
          <p:cNvSpPr>
            <a:spLocks noGrp="1"/>
          </p:cNvSpPr>
          <p:nvPr>
            <p:ph type="sldNum" sz="quarter" idx="12"/>
          </p:nvPr>
        </p:nvSpPr>
        <p:spPr/>
        <p:txBody>
          <a:bodyPr/>
          <a:lstStyle/>
          <a:p>
            <a:fld id="{B961B71F-4B40-8942-BB88-E0F5C0B46E10}" type="slidenum">
              <a:rPr lang="en-US" smtClean="0"/>
            </a:fld>
            <a:endParaRPr lang="en-US"/>
          </a:p>
        </p:txBody>
      </p:sp>
      <p:sp>
        <p:nvSpPr>
          <p:cNvPr id="4" name="Content Placeholder 3"/>
          <p:cNvSpPr>
            <a:spLocks noGrp="1"/>
          </p:cNvSpPr>
          <p:nvPr>
            <p:ph idx="1"/>
          </p:nvPr>
        </p:nvSpPr>
        <p:spPr>
          <a:xfrm>
            <a:off x="0" y="1336675"/>
            <a:ext cx="12191365" cy="5521325"/>
          </a:xfrm>
        </p:spPr>
        <p:txBody>
          <a:bodyPr>
            <a:noAutofit/>
          </a:bodyPr>
          <a:lstStyle/>
          <a:p>
            <a:pPr marL="0" indent="0">
              <a:buNone/>
            </a:pPr>
            <a:endParaRPr lang="en-US" altLang="en-GB" sz="1400" dirty="0"/>
          </a:p>
          <a:p>
            <a:pPr>
              <a:buFont typeface="Wingdings" panose="05000000000000000000" charset="0"/>
              <a:buChar char="q"/>
            </a:pPr>
            <a:r>
              <a:rPr lang="en-US" altLang="en-GB" sz="1400" dirty="0">
                <a:latin typeface="Arial Black" panose="020B0A04020102020204" charset="0"/>
                <a:cs typeface="Arial Black" panose="020B0A04020102020204" charset="0"/>
              </a:rPr>
              <a:t>Operating System: Windows 10/11, macOS, or Linux</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Database: MySQL 8.0+ (Workbench / DBeaver)</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Backend: Node.js (v18+) &amp; Express.js</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Database Driver/ORM: Sequelize ORM / mysql2</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Frontend: React.js, Vite, Tailwind CSS</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Security &amp; Auth: JWT (JSON Web Tokens) &amp; Bcrypt.js</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External APIs: Twilio (SMS alerts) &amp; Nodemailer (Email receipts)</a:t>
            </a:r>
            <a:endParaRPr lang="en-US" altLang="en-GB" sz="1400" dirty="0">
              <a:latin typeface="Arial Black" panose="020B0A04020102020204" charset="0"/>
              <a:cs typeface="Arial Black" panose="020B0A04020102020204" charset="0"/>
            </a:endParaRPr>
          </a:p>
          <a:p>
            <a:pPr>
              <a:buFont typeface="Wingdings" panose="05000000000000000000" charset="0"/>
              <a:buChar char="q"/>
            </a:pPr>
            <a:endParaRPr lang="en-US" altLang="en-GB" sz="1400" dirty="0">
              <a:latin typeface="Arial Black" panose="020B0A04020102020204" charset="0"/>
              <a:cs typeface="Arial Black" panose="020B0A04020102020204" charset="0"/>
            </a:endParaRPr>
          </a:p>
          <a:p>
            <a:pPr>
              <a:buFont typeface="Wingdings" panose="05000000000000000000" charset="0"/>
              <a:buChar char="q"/>
            </a:pPr>
            <a:r>
              <a:rPr lang="en-US" altLang="en-GB" sz="1400" dirty="0">
                <a:latin typeface="Arial Black" panose="020B0A04020102020204" charset="0"/>
                <a:cs typeface="Arial Black" panose="020B0A04020102020204" charset="0"/>
              </a:rPr>
              <a:t>Dev &amp; Testing Tools: Git/GitHub, Postman, Docker, VS Code</a:t>
            </a:r>
            <a:endParaRPr lang="en-US" altLang="en-GB" sz="1400" dirty="0">
              <a:latin typeface="Arial Black" panose="020B0A04020102020204" charset="0"/>
              <a:cs typeface="Arial Black" panose="020B0A040201020202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fld>
            <a:endParaRPr lang="en-US" dirty="0"/>
          </a:p>
        </p:txBody>
      </p:sp>
      <p:sp>
        <p:nvSpPr>
          <p:cNvPr id="3" name="Text Box 2"/>
          <p:cNvSpPr txBox="1"/>
          <p:nvPr/>
        </p:nvSpPr>
        <p:spPr>
          <a:xfrm>
            <a:off x="0" y="1089025"/>
            <a:ext cx="12192000" cy="5768975"/>
          </a:xfrm>
          <a:prstGeom prst="rect">
            <a:avLst/>
          </a:prstGeom>
          <a:noFill/>
        </p:spPr>
        <p:txBody>
          <a:bodyPr wrap="square" rtlCol="0">
            <a:noAutofit/>
          </a:bodyPr>
          <a:p>
            <a:r>
              <a:rPr lang="en-US" altLang="en-GB">
                <a:latin typeface="Arial Black" panose="020B0A04020102020204" charset="0"/>
                <a:cs typeface="Arial Black" panose="020B0A04020102020204" charset="0"/>
              </a:rPr>
              <a:t>Conclusion:</a:t>
            </a:r>
            <a:endParaRPr lang="en-US" altLang="en-GB">
              <a:latin typeface="Arial Black" panose="020B0A04020102020204" charset="0"/>
              <a:cs typeface="Arial Black" panose="020B0A04020102020204" charset="0"/>
            </a:endParaRPr>
          </a:p>
          <a:p>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Integrated Platform: CareSync successfully unites patient records, doctor scheduling, pharmacy, and billing into one central database.</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Data Integrity: A normalized 3NF/BCNF schema eliminates data redundancy and prevents update errors across all records.</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Safe Bookings: ACID transactions and row locks eliminate double-booking bugs for doctor appointments and hospital beds.</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High Performance: B-Tree indexing and SQL window functions provide instant search results, live queue tokens, and automated financial reports.</a:t>
            </a:r>
            <a:endParaRPr lang="en-US" altLang="en-GB" sz="1200">
              <a:latin typeface="Arial Black" panose="020B0A04020102020204" charset="0"/>
              <a:cs typeface="Arial Black" panose="020B0A04020102020204" charset="0"/>
            </a:endParaRPr>
          </a:p>
          <a:p>
            <a:endParaRPr lang="en-US" altLang="en-GB" sz="1200">
              <a:latin typeface="Arial Black" panose="020B0A04020102020204" charset="0"/>
              <a:cs typeface="Arial Black" panose="020B0A04020102020204" charset="0"/>
            </a:endParaRPr>
          </a:p>
          <a:p>
            <a:endParaRPr lang="en-US" altLang="en-GB" sz="1200">
              <a:latin typeface="Arial Black" panose="020B0A04020102020204" charset="0"/>
              <a:cs typeface="Arial Black" panose="020B0A04020102020204" charset="0"/>
            </a:endParaRPr>
          </a:p>
          <a:p>
            <a:r>
              <a:rPr lang="en-US" altLang="en-GB">
                <a:latin typeface="Arial Black" panose="020B0A04020102020204" charset="0"/>
                <a:cs typeface="Arial Black" panose="020B0A04020102020204" charset="0"/>
              </a:rPr>
              <a:t>Future Scope</a:t>
            </a:r>
            <a:endParaRPr lang="en-US" altLang="en-GB">
              <a:latin typeface="Arial Black" panose="020B0A04020102020204" charset="0"/>
              <a:cs typeface="Arial Black" panose="020B0A04020102020204" charset="0"/>
            </a:endParaRPr>
          </a:p>
          <a:p>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AI Diagnostics: Add machine learning for disease prediction and automatic drug allergy checks.</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Multi-Branch Scaling: Use database sharding to expand the system across multi-city hospital chains.</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Telemedicine: Add video consultations and instant online payments for remote patient care.</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IoT Patient Monitoring: Connect ICU/ward monitors for live vitals tracking and automated emergency alerts.</a:t>
            </a: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endParaRPr lang="en-US" altLang="en-GB" sz="1200">
              <a:latin typeface="Arial Black" panose="020B0A04020102020204" charset="0"/>
              <a:cs typeface="Arial Black" panose="020B0A04020102020204" charset="0"/>
            </a:endParaRPr>
          </a:p>
          <a:p>
            <a:pPr marL="171450" indent="-171450">
              <a:buFont typeface="Wingdings" panose="05000000000000000000" charset="0"/>
              <a:buChar char="q"/>
            </a:pPr>
            <a:r>
              <a:rPr lang="en-US" altLang="en-GB" sz="1200">
                <a:latin typeface="Arial Black" panose="020B0A04020102020204" charset="0"/>
                <a:cs typeface="Arial Black" panose="020B0A04020102020204" charset="0"/>
              </a:rPr>
              <a:t>Mobile App: Build dedicated mobile apps for patients to view prescriptions and track live token numbers.</a:t>
            </a:r>
            <a:endParaRPr lang="en-US" altLang="en-GB" sz="1200">
              <a:latin typeface="Arial Black" panose="020B0A04020102020204" charset="0"/>
              <a:cs typeface="Arial Black" panose="020B0A040201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endParaRPr lang="en-IN" sz="4400" b="1" dirty="0">
              <a:solidFill>
                <a:srgbClr val="0070C0"/>
              </a:solidFill>
            </a:endParaRPr>
          </a:p>
        </p:txBody>
      </p:sp>
      <p:sp>
        <p:nvSpPr>
          <p:cNvPr id="7" name="Slide Number Placeholder 6"/>
          <p:cNvSpPr>
            <a:spLocks noGrp="1"/>
          </p:cNvSpPr>
          <p:nvPr>
            <p:ph type="sldNum" sz="quarter" idx="12"/>
          </p:nvPr>
        </p:nvSpPr>
        <p:spPr/>
        <p:txBody>
          <a:bodyPr/>
          <a:lstStyle/>
          <a:p>
            <a:fld id="{B961B71F-4B40-8942-BB88-E0F5C0B46E10}"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13640</Words>
  <Application>WPS Presentation</Application>
  <PresentationFormat>Widescreen</PresentationFormat>
  <Paragraphs>235</Paragraphs>
  <Slides>13</Slides>
  <Notes>10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13</vt:i4>
      </vt:variant>
    </vt:vector>
  </HeadingPairs>
  <TitlesOfParts>
    <vt:vector size="25" baseType="lpstr">
      <vt:lpstr>Arial</vt:lpstr>
      <vt:lpstr>SimSun</vt:lpstr>
      <vt:lpstr>Wingdings</vt:lpstr>
      <vt:lpstr>Wingdings</vt:lpstr>
      <vt:lpstr>Amiri</vt:lpstr>
      <vt:lpstr>Arial Black</vt:lpstr>
      <vt:lpstr>Calibri Light</vt:lpstr>
      <vt:lpstr>Calibri</vt:lpstr>
      <vt:lpstr>Microsoft YaHei</vt:lpstr>
      <vt:lpstr>Arial Unicode MS</vt:lpstr>
      <vt:lpstr>Office Theme</vt:lpstr>
      <vt:lpstr>Custom Design</vt:lpstr>
      <vt:lpstr> 1st  REVIEW  Hospital Management </vt:lpstr>
      <vt:lpstr>GROUP NUMBER:1</vt:lpstr>
      <vt:lpstr>ABSTRACT</vt:lpstr>
      <vt:lpstr>INTRDOUCTION</vt:lpstr>
      <vt:lpstr>EXISTING SYSTEM</vt:lpstr>
      <vt:lpstr>PROBLEM</vt:lpstr>
      <vt:lpstr>SOLUTION(Contribution)</vt:lpstr>
      <vt:lpstr>Objectives </vt:lpstr>
      <vt:lpstr>Modules</vt:lpstr>
      <vt:lpstr>Modules</vt:lpstr>
      <vt:lpstr>SOFTWARE REQUIREMENTS </vt:lpstr>
      <vt:lpstr>CONCLUSION AND FUTURE SCOPE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Aakash Dadhirao</cp:lastModifiedBy>
  <cp:revision>96</cp:revision>
  <dcterms:created xsi:type="dcterms:W3CDTF">2022-05-20T10:20:00Z</dcterms:created>
  <dcterms:modified xsi:type="dcterms:W3CDTF">2026-08-25T03:14:38Z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8CDAF7595E8D4A708F8BBAEBB9FF20F6_12</vt:lpwstr>
  </property>
  <property fmtid="{D5CDD505-2E9C-101B-9397-08002B2CF9AE}" pid="3" name="KSOProductBuildVer">
    <vt:lpwstr>2057-12.2.0.23206</vt:lpwstr>
  </property>
</Properties>
</file>